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06"/>
  </p:normalViewPr>
  <p:slideViewPr>
    <p:cSldViewPr snapToGrid="0" snapToObjects="1">
      <p:cViewPr varScale="1">
        <p:scale>
          <a:sx n="91" d="100"/>
          <a:sy n="91" d="100"/>
        </p:scale>
        <p:origin x="1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8CED6D-B8FA-1D4D-B05B-5FEFCC82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A1EE3F-4862-FB4D-8DBF-9226AE5FC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7E08BE-FA83-E341-82B1-8206DF39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387B3A-1A2C-F549-B5D9-3F64322F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EC5D4E-E5A7-004C-BE91-DE0B1770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655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E87A5-ED21-3D4A-9E03-50DA728D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4B004-5BCA-B44E-A5EC-78DE55A4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3DA5E-4812-8647-BC47-32A3D238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3D7366-5C51-5E45-A4BD-0787D858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915D30-A6EB-F345-B366-154C231E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483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82E85A-316F-4C42-B6B7-55D48876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870D4D-E4D8-1F46-B80D-2A43057A9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45C84A-969B-D24A-B284-9C859A28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030A40-EAE8-2E43-BF33-66E21049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80E798-625D-0B49-ADA2-F41491B2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917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F1CB9E-9758-D046-88CE-F57208C7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89FABF-8511-314C-9677-2FEFCB065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BF76DC-F5E1-584A-92BD-677EB9A56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BA6108-4CA9-8848-B185-12D1D160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F49B8E-563C-AD4B-972D-97679D44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EC799A-1AB1-1A4D-A282-B68C499E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401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26AF4A-5D07-3F40-B826-E4167DD3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9A7374-628C-CE47-828B-24F12E97D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1233517-78FD-F948-B537-454E7A5A1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040C09-7805-0242-A7A7-EA1C47C1E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4B173D4-186E-9749-9550-80E7C64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85F3E90-7E31-C749-AD6F-5ABCDDE4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AE28809-A3A4-C24B-A442-BDA561D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5870F6-13BA-CA49-B246-06C160B5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53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86E8F-0B5B-7343-83AD-F17E94C3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2F74E8-8D52-E24E-9D89-9E4AD6EA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D48CAEC-5D0C-CA42-8774-FB178AD5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224A93-64E7-2440-8A09-83F6E943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56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4A502E-421E-014D-9AB1-C6AE3A17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8083FF7-397E-C447-96F3-AB54C942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D19EAB-EDC2-104A-A2B0-95675D60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76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34E00A-802F-2146-AD5F-05D6D475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32D9D5-0640-9F4D-818F-AF7755D4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6723DDC-EC0B-6C4D-AD62-4D5F3622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80D356-14A2-5E45-852A-95B1C625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22EA2B-1CCD-C441-BD89-51D64AA5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1145F01-581A-4743-83B7-6DE03687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046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C4DC16-9530-1440-8BE3-84642395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E61387D-5688-6144-ACE2-C4C4AD458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9A2892-540D-6945-B625-2B4452DE7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6BAD7EE-BE47-F845-9142-C54FDD8E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F5BE79F-2D80-F14C-86BB-60C894B5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2C72359-7D8A-D444-B487-B1985582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25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69B24E-4A98-EF45-A411-D161AB9B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ED973C7-D87D-5845-B952-A779171DE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CE94F0-F303-8D4E-8ABB-2BFF518A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D0D181-2662-2547-928E-333B6ECB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2BE50C-3C51-DF42-8DF4-DF0DD0D3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40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CCB60AA-3B10-9240-AC65-0E2C53ACA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CF3C7F-90C2-0F42-89E3-5BA1CE56E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69C258-0D61-DE42-96B1-03829AA3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D97589-89F0-C24B-A253-67ED4B66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5E058D-39E7-D14D-AA20-DB381504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551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C114F0-3810-B74C-879B-F6625B02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323C37-DBEC-4A43-A7A3-27AB9085B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8F39DD-610A-2740-83A6-4733FFC3D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2260B-E7F4-3A4A-A658-CA0ABD62B5CB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DC2EFB-B98F-4F4D-A6E7-1B21E6D8C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C27958-6AE9-6544-9804-4DDA4341A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7E59B-5D66-1842-B9BB-A1AAC6DBA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257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B8A3D8-16F5-C244-A495-A774C983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974" y="457200"/>
            <a:ext cx="4738052" cy="531812"/>
          </a:xfrm>
        </p:spPr>
        <p:txBody>
          <a:bodyPr>
            <a:normAutofit/>
          </a:bodyPr>
          <a:lstStyle/>
          <a:p>
            <a:r>
              <a:rPr lang="it-IT" dirty="0"/>
              <a:t>Obbiettivo dell’esercizio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81464D-CDD7-7640-B814-70B069694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Mettere in comunicazione il laptop-PT0 con IP 192.168.100.100 con il PC-PT-PC0 con IP 192.168.100.103 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Mettere in comunicazione il laptop-PT0 con IP 192.168.100.100 con il laptop-PT2 con IP 192.168.200.100 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E5E98B37-F275-A24E-830A-FCA87D6D8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621771"/>
            <a:ext cx="6172200" cy="3604933"/>
          </a:xfrm>
        </p:spPr>
      </p:pic>
    </p:spTree>
    <p:extLst>
      <p:ext uri="{BB962C8B-B14F-4D97-AF65-F5344CB8AC3E}">
        <p14:creationId xmlns:p14="http://schemas.microsoft.com/office/powerpoint/2010/main" val="284642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6A485D6-9A9F-744F-9561-B5AFEC407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716756"/>
            <a:ext cx="10198100" cy="5869940"/>
          </a:xfrm>
          <a:prstGeom prst="rect">
            <a:avLst/>
          </a:prstGeom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290548F8-9589-F642-90D2-25179A24EEE8}"/>
              </a:ext>
            </a:extLst>
          </p:cNvPr>
          <p:cNvSpPr txBox="1">
            <a:spLocks/>
          </p:cNvSpPr>
          <p:nvPr/>
        </p:nvSpPr>
        <p:spPr>
          <a:xfrm>
            <a:off x="3726974" y="271304"/>
            <a:ext cx="4738052" cy="5318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Topologia di rete </a:t>
            </a:r>
          </a:p>
        </p:txBody>
      </p:sp>
    </p:spTree>
    <p:extLst>
      <p:ext uri="{BB962C8B-B14F-4D97-AF65-F5344CB8AC3E}">
        <p14:creationId xmlns:p14="http://schemas.microsoft.com/office/powerpoint/2010/main" val="398940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F785D-FA8A-014C-A689-FE477EE1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0225"/>
          </a:xfrm>
        </p:spPr>
        <p:txBody>
          <a:bodyPr>
            <a:normAutofit fontScale="90000"/>
          </a:bodyPr>
          <a:lstStyle/>
          <a:p>
            <a:r>
              <a:rPr lang="it-IT" dirty="0"/>
              <a:t>Punto 1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542A3352-AADC-E74A-940B-EC5E70550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852322"/>
              </p:ext>
            </p:extLst>
          </p:nvPr>
        </p:nvGraphicFramePr>
        <p:xfrm>
          <a:off x="839785" y="1212035"/>
          <a:ext cx="66020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17">
                  <a:extLst>
                    <a:ext uri="{9D8B030D-6E8A-4147-A177-3AD203B41FA5}">
                      <a16:colId xmlns:a16="http://schemas.microsoft.com/office/drawing/2014/main" val="3820871805"/>
                    </a:ext>
                  </a:extLst>
                </a:gridCol>
                <a:gridCol w="2278966">
                  <a:extLst>
                    <a:ext uri="{9D8B030D-6E8A-4147-A177-3AD203B41FA5}">
                      <a16:colId xmlns:a16="http://schemas.microsoft.com/office/drawing/2014/main" val="1486962528"/>
                    </a:ext>
                  </a:extLst>
                </a:gridCol>
                <a:gridCol w="2855739">
                  <a:extLst>
                    <a:ext uri="{9D8B030D-6E8A-4147-A177-3AD203B41FA5}">
                      <a16:colId xmlns:a16="http://schemas.microsoft.com/office/drawing/2014/main" val="1350064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Host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04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Laptop0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192.168.100.101/24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279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Laptop1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192.168.100.102/24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94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192.168.100.103/24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44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192.168.200.101/24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014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Laptop2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192.168.200.102/24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192.168.100.2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54311"/>
                  </a:ext>
                </a:extLst>
              </a:tr>
            </a:tbl>
          </a:graphicData>
        </a:graphic>
      </p:graphicFrame>
      <p:pic>
        <p:nvPicPr>
          <p:cNvPr id="14" name="Immagine 13">
            <a:extLst>
              <a:ext uri="{FF2B5EF4-FFF2-40B4-BE49-F238E27FC236}">
                <a16:creationId xmlns:a16="http://schemas.microsoft.com/office/drawing/2014/main" id="{4105CD86-AB73-5C4D-81DB-DCF6F7AB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83" y="1212035"/>
            <a:ext cx="5237415" cy="4924733"/>
          </a:xfrm>
          <a:prstGeom prst="rect">
            <a:avLst/>
          </a:prstGeom>
        </p:spPr>
      </p:pic>
      <p:sp>
        <p:nvSpPr>
          <p:cNvPr id="16" name="Segnaposto testo 3">
            <a:extLst>
              <a:ext uri="{FF2B5EF4-FFF2-40B4-BE49-F238E27FC236}">
                <a16:creationId xmlns:a16="http://schemas.microsoft.com/office/drawing/2014/main" id="{5CD264BD-2F93-FA49-8DAB-22BBA7772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192172"/>
            <a:ext cx="5729287" cy="1454566"/>
          </a:xfrm>
        </p:spPr>
        <p:txBody>
          <a:bodyPr/>
          <a:lstStyle/>
          <a:p>
            <a:r>
              <a:rPr lang="it-IT" dirty="0"/>
              <a:t>La prima comunicazione (Laptop0 ↔ PC0) avviene all'interno della stessa sottorete. </a:t>
            </a:r>
          </a:p>
          <a:p>
            <a:r>
              <a:rPr lang="it-IT" dirty="0"/>
              <a:t>Il pacchetto viene analizzato dallo </a:t>
            </a:r>
            <a:r>
              <a:rPr lang="it-IT" dirty="0" err="1"/>
              <a:t>switch</a:t>
            </a:r>
            <a:r>
              <a:rPr lang="it-IT" dirty="0"/>
              <a:t>, appartenendo alla stessa rete viene indirizzato verso </a:t>
            </a:r>
            <a:r>
              <a:rPr lang="it-IT" dirty="0" err="1"/>
              <a:t>l’host</a:t>
            </a:r>
            <a:r>
              <a:rPr lang="it-IT" dirty="0"/>
              <a:t> di destinazione. </a:t>
            </a:r>
          </a:p>
        </p:txBody>
      </p:sp>
    </p:spTree>
    <p:extLst>
      <p:ext uri="{BB962C8B-B14F-4D97-AF65-F5344CB8AC3E}">
        <p14:creationId xmlns:p14="http://schemas.microsoft.com/office/powerpoint/2010/main" val="77014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965B9AB-785B-6A47-BC3F-5747B40AA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491" y="1306021"/>
            <a:ext cx="6597330" cy="4245955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0363DEC4-379F-F848-8B67-6B631B7E94C5}"/>
              </a:ext>
            </a:extLst>
          </p:cNvPr>
          <p:cNvSpPr txBox="1">
            <a:spLocks/>
          </p:cNvSpPr>
          <p:nvPr/>
        </p:nvSpPr>
        <p:spPr>
          <a:xfrm>
            <a:off x="839788" y="457200"/>
            <a:ext cx="3932237" cy="530225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Punto 2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57FF922-8F0C-4B4F-B0D7-5D42EAC6BA32}"/>
              </a:ext>
            </a:extLst>
          </p:cNvPr>
          <p:cNvSpPr txBox="1">
            <a:spLocks/>
          </p:cNvSpPr>
          <p:nvPr/>
        </p:nvSpPr>
        <p:spPr>
          <a:xfrm>
            <a:off x="839789" y="1306021"/>
            <a:ext cx="3915092" cy="44501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/>
              <a:t>La seconda comunicazione (Laptop0 ↔ Laptop2) avviene all’esterno della sottorete e vanno configurati router e schede di rete degli </a:t>
            </a:r>
            <a:r>
              <a:rPr lang="it-IT" sz="1600" dirty="0" err="1"/>
              <a:t>host</a:t>
            </a:r>
            <a:r>
              <a:rPr lang="it-IT" sz="1600" dirty="0"/>
              <a:t>.</a:t>
            </a:r>
          </a:p>
          <a:p>
            <a:pPr marL="0" indent="0">
              <a:buNone/>
            </a:pPr>
            <a:r>
              <a:rPr lang="it-IT" sz="1600" dirty="0"/>
              <a:t>La porta Eth0/0 del router risponde all’</a:t>
            </a:r>
            <a:r>
              <a:rPr lang="it-IT" sz="1600" dirty="0" err="1"/>
              <a:t>adress</a:t>
            </a:r>
            <a:r>
              <a:rPr lang="it-IT" sz="1600" dirty="0"/>
              <a:t> 192.168.100.1 </a:t>
            </a:r>
          </a:p>
          <a:p>
            <a:pPr marL="0" indent="0">
              <a:buNone/>
            </a:pPr>
            <a:r>
              <a:rPr lang="it-IT" sz="1600" dirty="0"/>
              <a:t>La porta Eth1/0 del router risponde all’</a:t>
            </a:r>
            <a:r>
              <a:rPr lang="it-IT" sz="1600" dirty="0" err="1"/>
              <a:t>adress</a:t>
            </a:r>
            <a:r>
              <a:rPr lang="it-IT" sz="1600" dirty="0"/>
              <a:t> 192.168.200.1 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1600" dirty="0"/>
              <a:t>Entriamo nella configurazione di ogni </a:t>
            </a:r>
            <a:r>
              <a:rPr lang="it-IT" sz="1600" dirty="0" err="1"/>
              <a:t>host</a:t>
            </a:r>
            <a:r>
              <a:rPr lang="it-IT" sz="1600" dirty="0"/>
              <a:t> presente nella rete e impostiamo come default Gateway l’indirizzo indicato sopra, in relazione alla sottorete a cui siamo collegati. </a:t>
            </a:r>
          </a:p>
        </p:txBody>
      </p:sp>
    </p:spTree>
    <p:extLst>
      <p:ext uri="{BB962C8B-B14F-4D97-AF65-F5344CB8AC3E}">
        <p14:creationId xmlns:p14="http://schemas.microsoft.com/office/powerpoint/2010/main" val="417415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1A47B54-3148-EC4A-BE75-C13610ED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394" y="966633"/>
            <a:ext cx="5237415" cy="4924733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B34B9617-3446-7D42-97F2-9D438A282AC2}"/>
              </a:ext>
            </a:extLst>
          </p:cNvPr>
          <p:cNvSpPr txBox="1">
            <a:spLocks/>
          </p:cNvSpPr>
          <p:nvPr/>
        </p:nvSpPr>
        <p:spPr>
          <a:xfrm>
            <a:off x="839789" y="1101861"/>
            <a:ext cx="4974818" cy="46542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/>
              <a:t>Configurato il router lanciamo un </a:t>
            </a:r>
            <a:r>
              <a:rPr lang="it-IT" sz="1600" dirty="0" err="1"/>
              <a:t>Ping</a:t>
            </a:r>
            <a:r>
              <a:rPr lang="it-IT" sz="1600" dirty="0"/>
              <a:t> verso </a:t>
            </a:r>
            <a:r>
              <a:rPr lang="it-IT" sz="1600" dirty="0" err="1"/>
              <a:t>l’host</a:t>
            </a:r>
            <a:r>
              <a:rPr lang="it-IT" sz="1600" dirty="0"/>
              <a:t> di destinazione Laptop2</a:t>
            </a:r>
          </a:p>
          <a:p>
            <a:pPr marL="0" indent="0">
              <a:buNone/>
            </a:pPr>
            <a:r>
              <a:rPr lang="it-IT" sz="1600" dirty="0" err="1"/>
              <a:t>L’host</a:t>
            </a:r>
            <a:r>
              <a:rPr lang="it-IT" sz="1600" dirty="0"/>
              <a:t> controlla il pacchetto e verifica che non è indirizzato all’interno della rete locale, manda un ARP </a:t>
            </a:r>
            <a:r>
              <a:rPr lang="it-IT" sz="1600" dirty="0" err="1"/>
              <a:t>request</a:t>
            </a:r>
            <a:r>
              <a:rPr lang="it-IT" sz="1600" dirty="0"/>
              <a:t> verso il Gateway, che risponde con il suo MAC </a:t>
            </a:r>
            <a:r>
              <a:rPr lang="it-IT" sz="1600" dirty="0" err="1"/>
              <a:t>adress</a:t>
            </a:r>
            <a:r>
              <a:rPr lang="it-IT" sz="1600" dirty="0"/>
              <a:t>. </a:t>
            </a:r>
          </a:p>
          <a:p>
            <a:pPr marL="0" indent="0">
              <a:buNone/>
            </a:pPr>
            <a:r>
              <a:rPr lang="it-IT" sz="1600" dirty="0"/>
              <a:t>Il pacchetto parte verso il gateway che lo analizza, identifica l’IP del destinatario e verifica il MAC associato nella ARP </a:t>
            </a:r>
            <a:r>
              <a:rPr lang="it-IT" sz="1600" dirty="0" err="1"/>
              <a:t>table</a:t>
            </a:r>
            <a:r>
              <a:rPr lang="it-IT" sz="1600" dirty="0"/>
              <a:t>. Se non presente, manda una ARP </a:t>
            </a:r>
            <a:r>
              <a:rPr lang="it-IT" sz="1600" dirty="0" err="1"/>
              <a:t>request</a:t>
            </a:r>
            <a:r>
              <a:rPr lang="it-IT" sz="1600" dirty="0"/>
              <a:t> all’interno della propria rete per identificare il MAC destinatario. </a:t>
            </a:r>
          </a:p>
          <a:p>
            <a:pPr marL="0" indent="0">
              <a:buNone/>
            </a:pPr>
            <a:r>
              <a:rPr lang="it-IT" sz="1600" dirty="0"/>
              <a:t>Identificato il destinatario il pacchetto viene consegnato che risponde alla richiesta di </a:t>
            </a:r>
            <a:r>
              <a:rPr lang="it-IT" sz="1600" dirty="0" err="1"/>
              <a:t>ping</a:t>
            </a:r>
            <a:r>
              <a:rPr lang="it-IT" sz="1600" dirty="0"/>
              <a:t>.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1600" dirty="0"/>
              <a:t>Ricevuto i </a:t>
            </a:r>
            <a:r>
              <a:rPr lang="it-IT" sz="1600" dirty="0" err="1"/>
              <a:t>reply</a:t>
            </a:r>
            <a:r>
              <a:rPr lang="it-IT" sz="1600" dirty="0"/>
              <a:t> </a:t>
            </a:r>
            <a:r>
              <a:rPr lang="it-IT" sz="1600" dirty="0" err="1"/>
              <a:t>dall’host</a:t>
            </a:r>
            <a:r>
              <a:rPr lang="it-IT" sz="1600" dirty="0"/>
              <a:t> di destinazione consideriamo la comunicazione complicata. 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09130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261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Obbiettivo dell’esercizio</vt:lpstr>
      <vt:lpstr>Presentazione standard di PowerPoint</vt:lpstr>
      <vt:lpstr>Punto 1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Michele Loreti</dc:creator>
  <cp:lastModifiedBy>Michele Loreti</cp:lastModifiedBy>
  <cp:revision>6</cp:revision>
  <dcterms:created xsi:type="dcterms:W3CDTF">2026-04-09T15:18:37Z</dcterms:created>
  <dcterms:modified xsi:type="dcterms:W3CDTF">2026-04-09T16:18:38Z</dcterms:modified>
</cp:coreProperties>
</file>